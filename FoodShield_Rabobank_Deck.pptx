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05840" cy="82296"/>
          </a:xfrm>
          <a:prstGeom prst="rect">
            <a:avLst/>
          </a:prstGeom>
          <a:solidFill>
            <a:srgbClr val="D89A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D89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 AI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F4F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structural-risk layer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F4F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beneath global food markets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auditable risk score per country · 193 countries + 50 US states · 33 public data pipelines, every input traceable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5486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RaboResearch Food &amp; Agribusiness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Fedde Vreeken · Erasmus University Rotterdam ·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 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0E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student who got curious — not a food-security expert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926080" cy="3291840"/>
          </a:xfrm>
          <a:prstGeom prst="rect">
            <a:avLst/>
          </a:prstGeom>
          <a:solidFill>
            <a:srgbClr val="0E1A14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03120"/>
            <a:ext cx="2926080" cy="91440"/>
          </a:xfrm>
          <a:prstGeom prst="rect">
            <a:avLst/>
          </a:prstGeom>
          <a:solidFill>
            <a:srgbClr val="D89A3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517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D8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FV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777240" y="39776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Fedde Vreeken</a:t>
            </a:r>
            <a:endParaRPr lang="en-US" sz="1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Economics &amp; Business Economics</a:t>
            </a:r>
            <a:endParaRPr lang="en-US" sz="1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Erasmus University Rotterdam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931920" y="2194560"/>
            <a:ext cx="7589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FoodShield AI solo, with AI-assisted coding and review.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not a food-security specialist. I started it because of one question: if something breaks in one country tomorrow — a war, a drought, a port closure — who actually gets hurt, and how badly?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to answer that exists — across FAO, the World Bank, WFP, USDA, ACLED and more — but it's scattered across agencies, formats and APIs. Nobody had wired it together into one comparable view. So I did.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 AI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foodshield-ai-fv.vercel.app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E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research exists. The cross-country layer doesn't.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12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03120"/>
            <a:ext cx="91440" cy="3657600"/>
          </a:xfrm>
          <a:prstGeom prst="rect">
            <a:avLst/>
          </a:prstGeom>
          <a:solidFill>
            <a:srgbClr val="4F7D5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RaboResearch analysts produce deep, siloed work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wheat outlook here, an FX note there, a fertiliser piece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depth — but no single comparable view across countries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2103120"/>
            <a:ext cx="5212080" cy="3657600"/>
          </a:xfrm>
          <a:prstGeom prst="rect">
            <a:avLst/>
          </a:prstGeom>
          <a:solidFill>
            <a:srgbClr val="13241B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2103120"/>
            <a:ext cx="91440" cy="3657600"/>
          </a:xfrm>
          <a:prstGeom prst="rect">
            <a:avLst/>
          </a:prstGeom>
          <a:solidFill>
            <a:srgbClr val="D89A3F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9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 FILLS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83464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0–100 risk score per country, same method everywhere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trade + climate + conflict + governance + prices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traceable to its public source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 AI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foodshield-ai-fv.vercel.app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9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4F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score. Seven components. Fully sourced.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14600" cy="2286000"/>
          </a:xfrm>
          <a:prstGeom prst="rect">
            <a:avLst/>
          </a:prstGeom>
          <a:solidFill>
            <a:srgbClr val="13241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194560"/>
            <a:ext cx="2514600" cy="73152"/>
          </a:xfrm>
          <a:prstGeom prst="rect">
            <a:avLst/>
          </a:prstGeom>
          <a:solidFill>
            <a:srgbClr val="D89A3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514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D8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04088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scored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 countries + 50 US states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194560"/>
            <a:ext cx="2514600" cy="2286000"/>
          </a:xfrm>
          <a:prstGeom prst="rect">
            <a:avLst/>
          </a:prstGeom>
          <a:solidFill>
            <a:srgbClr val="13241B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2194560"/>
            <a:ext cx="2514600" cy="73152"/>
          </a:xfrm>
          <a:prstGeom prst="rect">
            <a:avLst/>
          </a:prstGeom>
          <a:solidFill>
            <a:srgbClr val="D89A3F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514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D8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47288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47288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refreshed every 6 hours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194560"/>
            <a:ext cx="2514600" cy="2286000"/>
          </a:xfrm>
          <a:prstGeom prst="rect">
            <a:avLst/>
          </a:prstGeom>
          <a:solidFill>
            <a:srgbClr val="13241B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2194560"/>
            <a:ext cx="2514600" cy="73152"/>
          </a:xfrm>
          <a:prstGeom prst="rect">
            <a:avLst/>
          </a:prstGeom>
          <a:solidFill>
            <a:srgbClr val="D89A3F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514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D8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190488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components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0488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28·18·14·14·9·9·8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69680" y="2194560"/>
            <a:ext cx="2514600" cy="2286000"/>
          </a:xfrm>
          <a:prstGeom prst="rect">
            <a:avLst/>
          </a:prstGeom>
          <a:solidFill>
            <a:srgbClr val="13241B"/>
          </a:solidFill>
          <a:ln/>
        </p:spPr>
      </p:sp>
      <p:sp>
        <p:nvSpPr>
          <p:cNvPr id="20" name="Shape 18"/>
          <p:cNvSpPr/>
          <p:nvPr/>
        </p:nvSpPr>
        <p:spPr>
          <a:xfrm>
            <a:off x="8869680" y="2194560"/>
            <a:ext cx="2514600" cy="73152"/>
          </a:xfrm>
          <a:prstGeom prst="rect">
            <a:avLst/>
          </a:prstGeom>
          <a:solidFill>
            <a:srgbClr val="D89A3F"/>
          </a:solidFill>
          <a:ln/>
        </p:spPr>
      </p:sp>
      <p:sp>
        <p:nvSpPr>
          <p:cNvPr id="21" name="Text 19"/>
          <p:cNvSpPr/>
          <p:nvPr/>
        </p:nvSpPr>
        <p:spPr>
          <a:xfrm>
            <a:off x="8915400" y="2514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D8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0–100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933688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FDRS score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33688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+ live nowcast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FDRS = Import Dependency · Supplier Concentration · Production Trend · Food Inflation · Climate · Conflict/Logistics · Supply-Chain Exposure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 AI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foodshield-ai-fv.vercel.app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· THE SCORE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E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FDRS score is built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per country: a structural baseline, plus a live nowcast adjustment from current signals.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dependency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2404872"/>
            <a:ext cx="3291840" cy="237744"/>
          </a:xfrm>
          <a:prstGeom prst="rect">
            <a:avLst/>
          </a:prstGeom>
          <a:solidFill>
            <a:srgbClr val="E4DECF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2404872"/>
            <a:ext cx="3291840" cy="237744"/>
          </a:xfrm>
          <a:prstGeom prst="rect">
            <a:avLst/>
          </a:prstGeom>
          <a:solidFill>
            <a:srgbClr val="1E4D3A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0" y="2331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concentration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2862072"/>
            <a:ext cx="3291840" cy="237744"/>
          </a:xfrm>
          <a:prstGeom prst="rect">
            <a:avLst/>
          </a:prstGeom>
          <a:solidFill>
            <a:srgbClr val="E4DECF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2862072"/>
            <a:ext cx="2116183" cy="237744"/>
          </a:xfrm>
          <a:prstGeom prst="rect">
            <a:avLst/>
          </a:prstGeom>
          <a:solidFill>
            <a:srgbClr val="1E4D3A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788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trend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83280" y="3319272"/>
            <a:ext cx="3291840" cy="237744"/>
          </a:xfrm>
          <a:prstGeom prst="rect">
            <a:avLst/>
          </a:prstGeom>
          <a:solidFill>
            <a:srgbClr val="E4DECF"/>
          </a:solidFill>
          <a:ln/>
        </p:spPr>
      </p:sp>
      <p:sp>
        <p:nvSpPr>
          <p:cNvPr id="15" name="Shape 13"/>
          <p:cNvSpPr/>
          <p:nvPr/>
        </p:nvSpPr>
        <p:spPr>
          <a:xfrm>
            <a:off x="3383280" y="3319272"/>
            <a:ext cx="1645920" cy="237744"/>
          </a:xfrm>
          <a:prstGeom prst="rect">
            <a:avLst/>
          </a:prstGeom>
          <a:solidFill>
            <a:srgbClr val="1E4D3A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3246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inflation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83280" y="3776472"/>
            <a:ext cx="3291840" cy="237744"/>
          </a:xfrm>
          <a:prstGeom prst="rect">
            <a:avLst/>
          </a:prstGeom>
          <a:solidFill>
            <a:srgbClr val="E4DECF"/>
          </a:solidFill>
          <a:ln/>
        </p:spPr>
      </p:sp>
      <p:sp>
        <p:nvSpPr>
          <p:cNvPr id="19" name="Shape 17"/>
          <p:cNvSpPr/>
          <p:nvPr/>
        </p:nvSpPr>
        <p:spPr>
          <a:xfrm>
            <a:off x="3383280" y="3776472"/>
            <a:ext cx="1645920" cy="237744"/>
          </a:xfrm>
          <a:prstGeom prst="rect">
            <a:avLst/>
          </a:prstGeom>
          <a:solidFill>
            <a:srgbClr val="1E4D3A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3703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160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vulnerability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83280" y="4233672"/>
            <a:ext cx="3291840" cy="237744"/>
          </a:xfrm>
          <a:prstGeom prst="rect">
            <a:avLst/>
          </a:prstGeom>
          <a:solidFill>
            <a:srgbClr val="E4DECF"/>
          </a:solidFill>
          <a:ln/>
        </p:spPr>
      </p:sp>
      <p:sp>
        <p:nvSpPr>
          <p:cNvPr id="23" name="Shape 21"/>
          <p:cNvSpPr/>
          <p:nvPr/>
        </p:nvSpPr>
        <p:spPr>
          <a:xfrm>
            <a:off x="3383280" y="4233672"/>
            <a:ext cx="1058091" cy="237744"/>
          </a:xfrm>
          <a:prstGeom prst="rect">
            <a:avLst/>
          </a:prstGeom>
          <a:solidFill>
            <a:srgbClr val="4F7D5E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4160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617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/ logistics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83280" y="4690872"/>
            <a:ext cx="3291840" cy="237744"/>
          </a:xfrm>
          <a:prstGeom prst="rect">
            <a:avLst/>
          </a:prstGeom>
          <a:solidFill>
            <a:srgbClr val="E4DECF"/>
          </a:solidFill>
          <a:ln/>
        </p:spPr>
      </p:sp>
      <p:sp>
        <p:nvSpPr>
          <p:cNvPr id="27" name="Shape 25"/>
          <p:cNvSpPr/>
          <p:nvPr/>
        </p:nvSpPr>
        <p:spPr>
          <a:xfrm>
            <a:off x="3383280" y="4690872"/>
            <a:ext cx="1058091" cy="237744"/>
          </a:xfrm>
          <a:prstGeom prst="rect">
            <a:avLst/>
          </a:prstGeom>
          <a:solidFill>
            <a:srgbClr val="4F7D5E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4617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exposure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383280" y="5148072"/>
            <a:ext cx="3291840" cy="237744"/>
          </a:xfrm>
          <a:prstGeom prst="rect">
            <a:avLst/>
          </a:prstGeom>
          <a:solidFill>
            <a:srgbClr val="E4DECF"/>
          </a:solidFill>
          <a:ln/>
        </p:spPr>
      </p:sp>
      <p:sp>
        <p:nvSpPr>
          <p:cNvPr id="31" name="Shape 29"/>
          <p:cNvSpPr/>
          <p:nvPr/>
        </p:nvSpPr>
        <p:spPr>
          <a:xfrm>
            <a:off x="3383280" y="5148072"/>
            <a:ext cx="940526" cy="237744"/>
          </a:xfrm>
          <a:prstGeom prst="rect">
            <a:avLst/>
          </a:prstGeom>
          <a:solidFill>
            <a:srgbClr val="4F7D5E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5074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955280" y="2286000"/>
            <a:ext cx="3566160" cy="3429000"/>
          </a:xfrm>
          <a:prstGeom prst="rect">
            <a:avLst/>
          </a:prstGeom>
          <a:solidFill>
            <a:srgbClr val="13241B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955280" y="2286000"/>
            <a:ext cx="3566160" cy="91440"/>
          </a:xfrm>
          <a:prstGeom prst="rect">
            <a:avLst/>
          </a:prstGeom>
          <a:solidFill>
            <a:srgbClr val="D89A3F"/>
          </a:solidFill>
          <a:ln/>
        </p:spPr>
      </p:sp>
      <p:sp>
        <p:nvSpPr>
          <p:cNvPr id="35" name="Text 33"/>
          <p:cNvSpPr/>
          <p:nvPr/>
        </p:nvSpPr>
        <p:spPr>
          <a:xfrm>
            <a:off x="8183880" y="256032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rgbClr val="D89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Slow-moving baseline from sourced + heritage inputs.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rgbClr val="D89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NOWCAST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−10…+35 overlay from IPC, prices, FX, weather, conflict.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rgbClr val="D89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HEADLINE 0–100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300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weight documented; every input traceable.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 AI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foodshield-ai-fv.vercel.app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9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· TRADE FLOW ATLAS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F4F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world's food goes — and the chokepoints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Per-commodity import/export flows, supplier concentration, and chokepoint risk — with each route labelled observed or modeled.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120640" cy="3200400"/>
          </a:xfrm>
          <a:prstGeom prst="rect">
            <a:avLst/>
          </a:prstGeom>
          <a:solidFill>
            <a:srgbClr val="13241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377440"/>
            <a:ext cx="5120640" cy="73152"/>
          </a:xfrm>
          <a:prstGeom prst="rect">
            <a:avLst/>
          </a:prstGeom>
          <a:solidFill>
            <a:srgbClr val="C44B3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4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· CHOKEPOINT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pPr indent="0" marL="0">
              <a:buNone/>
            </a:pPr>
            <a:r>
              <a:rPr lang="en-US" sz="1500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Egypt's wheat is from Russia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supplier concentration 72 — no diversified fallback in the top 3 suppliers. A single trade-route disruption would expose Egypt's wheat supply within weeks.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423160"/>
            <a:ext cx="201168" cy="201168"/>
          </a:xfrm>
          <a:prstGeom prst="ellipse">
            <a:avLst/>
          </a:prstGeom>
          <a:solidFill>
            <a:srgbClr val="D89A3F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concentration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270662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index + ranked share donut, per commodity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3246120"/>
            <a:ext cx="201168" cy="201168"/>
          </a:xfrm>
          <a:prstGeom prst="ellipse">
            <a:avLst/>
          </a:prstGeom>
          <a:solidFill>
            <a:srgbClr val="D89A3F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3200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Chokepoint flags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0" y="352958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dependencies surfaced first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4069080"/>
            <a:ext cx="201168" cy="201168"/>
          </a:xfrm>
          <a:prstGeom prst="ellipse">
            <a:avLst/>
          </a:prstGeom>
          <a:solidFill>
            <a:srgbClr val="D89A3F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4023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vs modeled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0" y="435254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real UN Comtrade bilateral; amber = estimated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4892040"/>
            <a:ext cx="201168" cy="201168"/>
          </a:xfrm>
          <a:prstGeom prst="ellipse">
            <a:avLst/>
          </a:prstGeom>
          <a:solidFill>
            <a:srgbClr val="D89A3F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4846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trade position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75120" y="517550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Importer / exporter balance per country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 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foodshield-ai-fv.vercel.app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· COMMODITIES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0E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commodities, ~85% of traded food calories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benchmark prices, concentration scores, and the chokepoint behind each — in the language of a commodity desk.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5146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77440"/>
            <a:ext cx="2514600" cy="73152"/>
          </a:xfrm>
          <a:prstGeom prst="rect">
            <a:avLst/>
          </a:prstGeom>
          <a:solidFill>
            <a:srgbClr val="D89A3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Wheat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68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↓0.4%  MoM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297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 40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377440"/>
            <a:ext cx="25146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2377440"/>
            <a:ext cx="2514600" cy="73152"/>
          </a:xfrm>
          <a:prstGeom prst="rect">
            <a:avLst/>
          </a:prstGeom>
          <a:solidFill>
            <a:srgbClr val="D89A3F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Soybeans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1188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61188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↓2.0%  MoM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11880" y="4297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 88 · alert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377440"/>
            <a:ext cx="25146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377440"/>
            <a:ext cx="2514600" cy="73152"/>
          </a:xfrm>
          <a:prstGeom prst="rect">
            <a:avLst/>
          </a:prstGeom>
          <a:solidFill>
            <a:srgbClr val="D89A3F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Palm oil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5508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$1,148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5508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↑3.6%  MoM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4297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 85 · alert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69680" y="2377440"/>
            <a:ext cx="25146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869680" y="2377440"/>
            <a:ext cx="2514600" cy="73152"/>
          </a:xfrm>
          <a:prstGeom prst="rect">
            <a:avLst/>
          </a:prstGeom>
          <a:solidFill>
            <a:srgbClr val="D89A3F"/>
          </a:solidFill>
          <a:ln/>
        </p:spPr>
      </p:sp>
      <p:sp>
        <p:nvSpPr>
          <p:cNvPr id="25" name="Text 23"/>
          <p:cNvSpPr/>
          <p:nvPr/>
        </p:nvSpPr>
        <p:spPr>
          <a:xfrm>
            <a:off x="909828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Fertilizer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09828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$857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09828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↑18.1%  MoM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98280" y="4297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mover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F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Prices: World Bank Pink Sheet (monthly, $/MT) · Concentration: UN Comtrade + USDA PSD · every card badged observed or modeled.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 AI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foodshield-ai-fv.vercel.app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9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· SCENARIO STRESS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4F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a major supplier stops exporting?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a real shock on top of the structural model — a wheat embargo, a drought, a conflict — and see which countries break first.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3429000" cy="2468880"/>
          </a:xfrm>
          <a:prstGeom prst="rect">
            <a:avLst/>
          </a:prstGeom>
          <a:solidFill>
            <a:srgbClr val="13241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34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8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Pick a shock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embargo · drought · port closure · conflict flare-up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96512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97680" y="2560320"/>
            <a:ext cx="3429000" cy="2468880"/>
          </a:xfrm>
          <a:prstGeom prst="rect">
            <a:avLst/>
          </a:prstGeom>
          <a:solidFill>
            <a:srgbClr val="13241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834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8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Choose severity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72000" y="35661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shock maps to the FDRS component it stresses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54112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955280" y="2560320"/>
            <a:ext cx="3429000" cy="2468880"/>
          </a:xfrm>
          <a:prstGeom prst="rect">
            <a:avLst/>
          </a:prstGeom>
          <a:solidFill>
            <a:srgbClr val="13241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834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89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See who breaks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9600" y="35661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re-ranked by their post-shock score, most exposed first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structural what-if — not a price forecast. The combining rule (√ of summed shocks on the same channel) avoids double-counting.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foodshield-ai-fv.vercel.app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E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 pipelines → one score, every 6 hours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514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97480"/>
            <a:ext cx="502920" cy="502920"/>
          </a:xfrm>
          <a:prstGeom prst="ellipse">
            <a:avLst/>
          </a:prstGeom>
          <a:solidFill>
            <a:srgbClr val="1E4D3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7157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F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public feeds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 · World Bank · WFP · USDA · ACLED · INFORM · CCKP · Comtrade…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82112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29000" y="2468880"/>
            <a:ext cx="2514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2697480"/>
            <a:ext cx="502920" cy="502920"/>
          </a:xfrm>
          <a:prstGeom prst="ellipse">
            <a:avLst/>
          </a:prstGeom>
          <a:solidFill>
            <a:srgbClr val="1E4D3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27157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F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0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37947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feed → stable JSON, retried, provenance-tagged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71032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2468880"/>
            <a:ext cx="2514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2697480"/>
            <a:ext cx="502920" cy="502920"/>
          </a:xfrm>
          <a:prstGeom prst="ellipse">
            <a:avLst/>
          </a:prstGeom>
          <a:solidFill>
            <a:srgbClr val="1E4D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7157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F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46520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37947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FDRS + nowcast overlay + climate/governance blend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59952" y="3383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06840" y="2468880"/>
            <a:ext cx="2514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35440" y="2697480"/>
            <a:ext cx="502920" cy="502920"/>
          </a:xfrm>
          <a:prstGeom prst="ellipse">
            <a:avLst/>
          </a:prstGeom>
          <a:solidFill>
            <a:srgbClr val="1E4D3A"/>
          </a:solidFill>
          <a:ln/>
        </p:spPr>
      </p:sp>
      <p:sp>
        <p:nvSpPr>
          <p:cNvPr id="24" name="Text 22"/>
          <p:cNvSpPr/>
          <p:nvPr/>
        </p:nvSpPr>
        <p:spPr>
          <a:xfrm>
            <a:off x="9235440" y="27157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F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35440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35440" y="37947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dashboard, no account, refreshed automatically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F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frontend + Python data layer, automated via GitHub Actions. No server, no database, no account.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 AI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foodshield-ai-fv.vercel.app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E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number says how much to trust it.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desk trusts honest scope over a polished black box. FoodShield labels every value — and shows what it doesn't know.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0881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68880"/>
            <a:ext cx="109728" cy="914400"/>
          </a:xfrm>
          <a:prstGeom prst="rect">
            <a:avLst/>
          </a:prstGeom>
          <a:solidFill>
            <a:srgbClr val="6BA36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6B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a live public dataset — source &amp; date shown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10881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566160"/>
            <a:ext cx="109728" cy="914400"/>
          </a:xfrm>
          <a:prstGeom prst="rect">
            <a:avLst/>
          </a:prstGeom>
          <a:solidFill>
            <a:srgbClr val="D89A3F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89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2608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from structural patterns — clearly flagged, never as fact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663440"/>
            <a:ext cx="10881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663440"/>
            <a:ext cx="109728" cy="914400"/>
          </a:xfrm>
          <a:prstGeom prst="rect">
            <a:avLst/>
          </a:prstGeom>
          <a:solidFill>
            <a:srgbClr val="9A8C6B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937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A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26080" y="4937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baseline, not yet re-verified — badged, not hidden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source health is shown as 24 / 33 — not a fake 33 / 33.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 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foodshield-ai-fv.vercel.app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9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&amp; CURRENT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F4F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structured data a desk would otherwise build by hand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29000" cy="1463040"/>
          </a:xfrm>
          <a:prstGeom prst="rect">
            <a:avLst/>
          </a:prstGeom>
          <a:solidFill>
            <a:srgbClr val="13241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560320"/>
            <a:ext cx="256032" cy="256032"/>
          </a:xfrm>
          <a:prstGeom prst="ellipse">
            <a:avLst/>
          </a:prstGeom>
          <a:solidFill>
            <a:srgbClr val="D89A3F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25237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inflation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Eurostat HICP · monthly · 31 countries sourced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286000"/>
            <a:ext cx="3429000" cy="1463040"/>
          </a:xfrm>
          <a:prstGeom prst="rect">
            <a:avLst/>
          </a:prstGeom>
          <a:solidFill>
            <a:srgbClr val="13241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2560320"/>
            <a:ext cx="256032" cy="256032"/>
          </a:xfrm>
          <a:prstGeom prst="ellipse">
            <a:avLst/>
          </a:prstGeom>
          <a:solidFill>
            <a:srgbClr val="D89A3F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25237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99923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WGI · all 6 dimensions · −2.5…+2.5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286000"/>
            <a:ext cx="3429000" cy="1463040"/>
          </a:xfrm>
          <a:prstGeom prst="rect">
            <a:avLst/>
          </a:prstGeom>
          <a:solidFill>
            <a:srgbClr val="13241B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2560320"/>
            <a:ext cx="256032" cy="256032"/>
          </a:xfrm>
          <a:prstGeom prst="ellipse">
            <a:avLst/>
          </a:prstGeom>
          <a:solidFill>
            <a:srgbClr val="D89A3F"/>
          </a:solidFill>
          <a:ln/>
        </p:spPr>
      </p:sp>
      <p:sp>
        <p:nvSpPr>
          <p:cNvPr id="14" name="Text 12"/>
          <p:cNvSpPr/>
          <p:nvPr/>
        </p:nvSpPr>
        <p:spPr>
          <a:xfrm>
            <a:off x="8641080" y="25237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climate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299923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 CCKP · recent-decade warming vs 1991–2000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3429000" cy="1463040"/>
          </a:xfrm>
          <a:prstGeom prst="rect">
            <a:avLst/>
          </a:prstGeom>
          <a:solidFill>
            <a:srgbClr val="13241B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251960"/>
            <a:ext cx="256032" cy="256032"/>
          </a:xfrm>
          <a:prstGeom prst="ellipse">
            <a:avLst/>
          </a:prstGeom>
          <a:solidFill>
            <a:srgbClr val="D89A3F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" y="42153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Caloric trade shares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69087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FAOSTAT Food Balance Sheets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977640"/>
            <a:ext cx="3429000" cy="1463040"/>
          </a:xfrm>
          <a:prstGeom prst="rect">
            <a:avLst/>
          </a:prstGeom>
          <a:solidFill>
            <a:srgbClr val="13241B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4251960"/>
            <a:ext cx="256032" cy="256032"/>
          </a:xfrm>
          <a:prstGeom prst="ellipse">
            <a:avLst/>
          </a:prstGeom>
          <a:solidFill>
            <a:srgbClr val="D89A3F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42153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prices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469087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Pink Sheet · $/MT · monthly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0" y="3977640"/>
            <a:ext cx="3429000" cy="1463040"/>
          </a:xfrm>
          <a:prstGeom prst="rect">
            <a:avLst/>
          </a:prstGeom>
          <a:solidFill>
            <a:srgbClr val="13241B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0" y="4251960"/>
            <a:ext cx="256032" cy="256032"/>
          </a:xfrm>
          <a:prstGeom prst="ellipse">
            <a:avLst/>
          </a:prstGeom>
          <a:solidFill>
            <a:srgbClr val="D89A3F"/>
          </a:solidFill>
          <a:ln/>
        </p:spPr>
      </p:sp>
      <p:sp>
        <p:nvSpPr>
          <p:cNvPr id="26" name="Text 24"/>
          <p:cNvSpPr/>
          <p:nvPr/>
        </p:nvSpPr>
        <p:spPr>
          <a:xfrm>
            <a:off x="8641080" y="42153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Humanitarian risk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0" y="469087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JRC INFORM 2026 · 191 countries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 AI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foodshield-ai-fv.vercel.app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E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does not claim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before you ask — owning these is the point of a risk tool.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963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forecast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8620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A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2030 outlook is an illustrative scenario, not a back-tested prediction — and is labelled as such.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73075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baseline is partly heritage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09651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A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country fields are hand-curated, not yet re-sourced. All clearly badged.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80060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9651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crisis feeds are upstream-down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53309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A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WFP HungerMap &amp; IPC return server errors today. The dashboard degrades honestly — affected countries flagged low-confidence, never faked.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 AI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foodshield-ai-fv.vercel.app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9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F4F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 pair programmer — the judgement stayed mine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asks you to trust a synthesis of public sources. The build needed the same discipline: sources checked, claims narrowed, modelled values labelled.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349240" cy="3108960"/>
          </a:xfrm>
          <a:prstGeom prst="rect">
            <a:avLst/>
          </a:prstGeom>
          <a:solidFill>
            <a:srgbClr val="13241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606040"/>
            <a:ext cx="5349240" cy="73152"/>
          </a:xfrm>
          <a:prstGeom prst="rect">
            <a:avLst/>
          </a:prstGeom>
          <a:solidFill>
            <a:srgbClr val="4F7D5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HELPED WITH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&amp; refactoring the 33 data pipelines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bugs as a critic — e.g. an empty-string supplier match that inflated Egypt's wheat exposure; centroid fixes for misplaced countries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&amp; stress-testing the scoring code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2606040"/>
            <a:ext cx="5166360" cy="3108960"/>
          </a:xfrm>
          <a:prstGeom prst="rect">
            <a:avLst/>
          </a:prstGeom>
          <a:solidFill>
            <a:srgbClr val="13241B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2606040"/>
            <a:ext cx="5166360" cy="73152"/>
          </a:xfrm>
          <a:prstGeom prst="rect">
            <a:avLst/>
          </a:prstGeom>
          <a:solidFill>
            <a:srgbClr val="D89A3F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9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DECIDED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324612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 components and their weights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between structural risk and live nowcast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sources to trust, and the limits on modelled claims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D89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helped implement and critique the system — it did not decide what the score should mean.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 AI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foodshield-ai-fv.vercel.app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E1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the build taught 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10881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240280"/>
            <a:ext cx="109728" cy="1097280"/>
          </a:xfrm>
          <a:prstGeom prst="rect">
            <a:avLst/>
          </a:prstGeom>
          <a:solidFill>
            <a:srgbClr val="D89A3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F7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00200" y="24048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synthesis is the hard part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7432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public source is excellent on its own. The value — and the difficulty — is wiring 33 of them into one comparable, traceable view. The data is free; the integration is the product.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10881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520440"/>
            <a:ext cx="109728" cy="1097280"/>
          </a:xfrm>
          <a:prstGeom prst="rect">
            <a:avLst/>
          </a:prstGeom>
          <a:solidFill>
            <a:srgbClr val="D89A3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F7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00200" y="36850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beats polish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40233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tempting to make every number look authoritative. A risk tool is more trustworthy when it shows what it doesn't know — provenance badges, 24/33 source health, low-confidence flags when crisis feeds are down.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881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800600"/>
            <a:ext cx="109728" cy="1097280"/>
          </a:xfrm>
          <a:prstGeom prst="rect">
            <a:avLst/>
          </a:prstGeom>
          <a:solidFill>
            <a:srgbClr val="D89A3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93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F7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00200" y="49651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the real story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53035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food trade is far more concentrated than I expected — a handful of suppliers feed most of the countries already in crisis. That single insight reshaped how I weighted the score.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 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foodshield-ai-fv.vercel.app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37276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05840" cy="82296"/>
          </a:xfrm>
          <a:prstGeom prst="rect">
            <a:avLst/>
          </a:prstGeom>
          <a:solidFill>
            <a:srgbClr val="D89A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D89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F4F1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a desk like yours use a structural-risk layer beneath its market work?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single public source would sharpen one component enough to justify it?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this lose an analyst's trust?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D89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to your price &amp; forecast work — not a competitor to 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foodshield-ai-fv.vercel.app   ·   Fedde Vreeken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FoodShield AI — Rabobank</dc:title>
  <dc:subject>PptxGenJS Presentation</dc:subject>
  <dc:creator>Fedde Vreeken</dc:creator>
  <cp:lastModifiedBy>Fedde Vreeken</cp:lastModifiedBy>
  <cp:revision>1</cp:revision>
  <dcterms:created xsi:type="dcterms:W3CDTF">2026-06-01T14:16:46Z</dcterms:created>
  <dcterms:modified xsi:type="dcterms:W3CDTF">2026-06-01T14:16:46Z</dcterms:modified>
</cp:coreProperties>
</file>